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447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62447"/>
                </a:solidFill>
                <a:latin typeface="Calibri"/>
              </a:rPr>
              <a:t>Images per Class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1624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Cat</c:v>
                  </c:pt>
                  <c:pt idx="1">
                    <c:v>Dog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1000</c:v>
                </c:pt>
                <c:pt idx="1">
                  <c:v>1000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</c:v>
                </c:pt>
              </c:strCache>
            </c:strRef>
          </c:tx>
          <c:spPr>
            <a:solidFill>
              <a:srgbClr val="FF6B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Cat</c:v>
                  </c:pt>
                  <c:pt idx="1">
                    <c:v>Dog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500</c:v>
                </c:pt>
                <c:pt idx="1">
                  <c:v>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Accuracy</c:v>
                </c:pt>
              </c:strCache>
            </c:strRef>
          </c:tx>
          <c:spPr>
            <a:solidFill>
              <a:srgbClr val="162447"/>
            </a:solidFill>
            <a:ln w="38100" cap="flat">
              <a:solidFill>
                <a:srgbClr val="16244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62447"/>
              </a:solidFill>
              <a:ln w="9525" cap="flat">
                <a:solidFill>
                  <a:srgbClr val="16244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58</c:v>
                </c:pt>
                <c:pt idx="1">
                  <c:v>68</c:v>
                </c:pt>
                <c:pt idx="2">
                  <c:v>74</c:v>
                </c:pt>
                <c:pt idx="3">
                  <c:v>79</c:v>
                </c:pt>
                <c:pt idx="4">
                  <c:v>83</c:v>
                </c:pt>
                <c:pt idx="5">
                  <c:v>86</c:v>
                </c:pt>
                <c:pt idx="6">
                  <c:v>88</c:v>
                </c:pt>
                <c:pt idx="7">
                  <c:v>90</c:v>
                </c:pt>
                <c:pt idx="8">
                  <c:v>91</c:v>
                </c:pt>
                <c:pt idx="9">
                  <c:v>92</c:v>
                </c:pt>
                <c:pt idx="10">
                  <c:v>93</c:v>
                </c:pt>
                <c:pt idx="11">
                  <c:v>93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Accuracy</c:v>
                </c:pt>
              </c:strCache>
            </c:strRef>
          </c:tx>
          <c:spPr>
            <a:solidFill>
              <a:srgbClr val="FF6B5B"/>
            </a:solidFill>
            <a:ln w="38100" cap="flat">
              <a:solidFill>
                <a:srgbClr val="FF6B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F6B5B"/>
              </a:solidFill>
              <a:ln w="9525" cap="flat">
                <a:solidFill>
                  <a:srgbClr val="FF6B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55</c:v>
                </c:pt>
                <c:pt idx="1">
                  <c:v>64</c:v>
                </c:pt>
                <c:pt idx="2">
                  <c:v>70</c:v>
                </c:pt>
                <c:pt idx="3">
                  <c:v>74</c:v>
                </c:pt>
                <c:pt idx="4">
                  <c:v>77</c:v>
                </c:pt>
                <c:pt idx="5">
                  <c:v>79</c:v>
                </c:pt>
                <c:pt idx="6">
                  <c:v>81</c:v>
                </c:pt>
                <c:pt idx="7">
                  <c:v>82</c:v>
                </c:pt>
                <c:pt idx="8">
                  <c:v>82.5</c:v>
                </c:pt>
                <c:pt idx="9">
                  <c:v>83</c:v>
                </c:pt>
                <c:pt idx="10">
                  <c:v>83</c:v>
                </c:pt>
                <c:pt idx="11">
                  <c:v>82.8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4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914400"/>
            <a:ext cx="3291840" cy="3291840"/>
          </a:xfrm>
          <a:prstGeom prst="ellipse">
            <a:avLst/>
          </a:prstGeom>
          <a:solidFill>
            <a:srgbClr val="223361"/>
          </a:solidFill>
          <a:ln/>
        </p:spPr>
      </p:sp>
      <p:pic>
        <p:nvPicPr>
          <p:cNvPr id="3" name="Image 0" descr="icons/paw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137160"/>
            <a:ext cx="1051560" cy="1051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317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CATS vs DOGS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640080" y="336499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9C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Convolutional Neural Network for Binary Image Classification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4160520"/>
            <a:ext cx="1828800" cy="0"/>
          </a:xfrm>
          <a:prstGeom prst="line">
            <a:avLst/>
          </a:prstGeom>
          <a:noFill/>
          <a:ln w="31750">
            <a:solidFill>
              <a:srgbClr val="FF6B5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4348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Vipin Gupta   ·   Batch 3   ·   Roll No. 26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6080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 ·  Computer Vision  ·  TensorFlow / Keras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We’re Building</a:t>
            </a:r>
            <a:endParaRPr lang="en-US" sz="3000" dirty="0"/>
          </a:p>
        </p:txBody>
      </p:sp>
      <p:pic>
        <p:nvPicPr>
          <p:cNvPr id="4" name="Image 0" descr="icons/circlecheck_c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19072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691640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that looks at a photo and predicts cat or dog</a:t>
            </a:r>
            <a:endParaRPr lang="en-US" sz="1500" dirty="0"/>
          </a:p>
        </p:txBody>
      </p:sp>
      <p:pic>
        <p:nvPicPr>
          <p:cNvPr id="6" name="Image 1" descr="icons/circlecheck_co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51760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2624328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from scratch — no pretrained weights required</a:t>
            </a:r>
            <a:endParaRPr lang="en-US" sz="1500" dirty="0"/>
          </a:p>
        </p:txBody>
      </p:sp>
      <p:pic>
        <p:nvPicPr>
          <p:cNvPr id="8" name="Image 2" descr="icons/circlecheck_cor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84448"/>
            <a:ext cx="292608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43000" y="3557016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 a local machine, no cloud GPU needed</a:t>
            </a:r>
            <a:endParaRPr lang="en-US" sz="1500" dirty="0"/>
          </a:p>
        </p:txBody>
      </p:sp>
      <p:pic>
        <p:nvPicPr>
          <p:cNvPr id="10" name="Image 3" descr="icons/circlecheck_cor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17136"/>
            <a:ext cx="292608" cy="2926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43000" y="4489704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with a ready-to-use script to predict on new photos</a:t>
            </a:r>
            <a:endParaRPr lang="en-US" sz="1500" dirty="0"/>
          </a:p>
        </p:txBody>
      </p:sp>
      <p:sp>
        <p:nvSpPr>
          <p:cNvPr id="12" name="Shape 6"/>
          <p:cNvSpPr/>
          <p:nvPr/>
        </p:nvSpPr>
        <p:spPr>
          <a:xfrm>
            <a:off x="6675120" y="146304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3F5F9"/>
          </a:solidFill>
          <a:ln/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3" name="Shape 7"/>
          <p:cNvSpPr/>
          <p:nvPr/>
        </p:nvSpPr>
        <p:spPr>
          <a:xfrm>
            <a:off x="6903720" y="16687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4" descr="icons/layergroup_cor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592" y="1787652"/>
            <a:ext cx="402336" cy="40233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772400" y="15361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9"/>
          <p:cNvSpPr/>
          <p:nvPr/>
        </p:nvSpPr>
        <p:spPr>
          <a:xfrm>
            <a:off x="7772400" y="20299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Cat &amp; Dog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6675120" y="269748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3F5F9"/>
          </a:solidFill>
          <a:ln/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6903720" y="29032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5" descr="icons/magnify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2592" y="3022092"/>
            <a:ext cx="402336" cy="40233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772400" y="27706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150×150</a:t>
            </a:r>
            <a:endParaRPr lang="en-US" sz="2400" dirty="0"/>
          </a:p>
        </p:txBody>
      </p:sp>
      <p:sp>
        <p:nvSpPr>
          <p:cNvPr id="21" name="Text 13"/>
          <p:cNvSpPr/>
          <p:nvPr/>
        </p:nvSpPr>
        <p:spPr>
          <a:xfrm>
            <a:off x="7772400" y="32644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 Size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6675120" y="393192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3F5F9"/>
          </a:solidFill>
          <a:ln/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6903720" y="41376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6" descr="icons/chartline_cor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2592" y="4256532"/>
            <a:ext cx="402336" cy="40233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772400" y="40050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~83%</a:t>
            </a:r>
            <a:endParaRPr lang="en-US" sz="2400" dirty="0"/>
          </a:p>
        </p:txBody>
      </p:sp>
      <p:sp>
        <p:nvSpPr>
          <p:cNvPr id="26" name="Text 17"/>
          <p:cNvSpPr/>
          <p:nvPr/>
        </p:nvSpPr>
        <p:spPr>
          <a:xfrm>
            <a:off x="7772400" y="44988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Validation Accuracy</a:t>
            </a:r>
            <a:endParaRPr lang="en-US" sz="1250" dirty="0"/>
          </a:p>
        </p:txBody>
      </p:sp>
      <p:sp>
        <p:nvSpPr>
          <p:cNvPr id="27" name="Text 18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Frameworks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975104" cy="2971800"/>
          </a:xfrm>
          <a:prstGeom prst="roundRect">
            <a:avLst>
              <a:gd name="adj" fmla="val 3704"/>
            </a:avLst>
          </a:prstGeom>
          <a:solidFill>
            <a:srgbClr val="F3F5F9"/>
          </a:solidFill>
          <a:ln/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24712" y="219456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23774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33756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3721608"/>
            <a:ext cx="17556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871216" y="1874520"/>
            <a:ext cx="1975104" cy="2971800"/>
          </a:xfrm>
          <a:prstGeom prst="roundRect">
            <a:avLst>
              <a:gd name="adj" fmla="val 3704"/>
            </a:avLst>
          </a:prstGeom>
          <a:solidFill>
            <a:srgbClr val="F3F5F9"/>
          </a:solidFill>
          <a:ln/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55848" y="219456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icons/tensor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237744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62656" y="333756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980944" y="3721608"/>
            <a:ext cx="17556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framework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102352" y="1874520"/>
            <a:ext cx="1975104" cy="2971800"/>
          </a:xfrm>
          <a:prstGeom prst="roundRect">
            <a:avLst>
              <a:gd name="adj" fmla="val 3704"/>
            </a:avLst>
          </a:prstGeom>
          <a:solidFill>
            <a:srgbClr val="F3F5F9"/>
          </a:solidFill>
          <a:ln/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586984" y="219456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icons/kera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864" y="237744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93792" y="333756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212080" y="3721608"/>
            <a:ext cx="17556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neural network API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333488" y="1874520"/>
            <a:ext cx="1975104" cy="2971800"/>
          </a:xfrm>
          <a:prstGeom prst="roundRect">
            <a:avLst>
              <a:gd name="adj" fmla="val 3704"/>
            </a:avLst>
          </a:prstGeom>
          <a:solidFill>
            <a:srgbClr val="F3F5F9"/>
          </a:solidFill>
          <a:ln/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818120" y="219456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icons/jupy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2377440"/>
            <a:ext cx="640080" cy="6400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24928" y="333756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43216" y="3721608"/>
            <a:ext cx="17556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development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564624" y="1874520"/>
            <a:ext cx="1975104" cy="2971800"/>
          </a:xfrm>
          <a:prstGeom prst="roundRect">
            <a:avLst>
              <a:gd name="adj" fmla="val 3704"/>
            </a:avLst>
          </a:prstGeom>
          <a:solidFill>
            <a:srgbClr val="F3F5F9"/>
          </a:solidFill>
          <a:ln/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049256" y="219456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icons/chartlin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2136" y="2377440"/>
            <a:ext cx="640080" cy="6400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56064" y="333756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9674352" y="3721608"/>
            <a:ext cx="17556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curve visualization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Cats &amp; Dogs Dataset</a:t>
            </a:r>
            <a:endParaRPr lang="en-US" sz="3000" dirty="0"/>
          </a:p>
        </p:txBody>
      </p:sp>
      <p:pic>
        <p:nvPicPr>
          <p:cNvPr id="4" name="Image 0" descr="icons/circlecheck_c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56232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5568" y="182880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TensorFlow’s "cats_and_dogs_filtered" set (≈68MB)</a:t>
            </a:r>
            <a:endParaRPr lang="en-US" sz="1400" dirty="0"/>
          </a:p>
        </p:txBody>
      </p:sp>
      <p:pic>
        <p:nvPicPr>
          <p:cNvPr id="6" name="Image 1" descr="icons/circlecheck_co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62072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15568" y="283464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automatically — no Kaggle account needed</a:t>
            </a:r>
            <a:endParaRPr lang="en-US" sz="1400" dirty="0"/>
          </a:p>
        </p:txBody>
      </p:sp>
      <p:pic>
        <p:nvPicPr>
          <p:cNvPr id="8" name="Image 2" descr="icons/circlecheck_cor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67912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15568" y="384048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Pre-organized into train/ and validation/ folders</a:t>
            </a:r>
            <a:endParaRPr lang="en-US" sz="1400" dirty="0"/>
          </a:p>
        </p:txBody>
      </p:sp>
      <p:pic>
        <p:nvPicPr>
          <p:cNvPr id="10" name="Image 3" descr="icons/circlecheck_cor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873752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15568" y="484632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image resized to 150×150 pixels before training</a:t>
            </a:r>
            <a:endParaRPr lang="en-US" sz="14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126480" y="1691640"/>
          <a:ext cx="53949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3" name="Text 6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Images to Training Batches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194560" cy="2651760"/>
          </a:xfrm>
          <a:prstGeom prst="roundRect">
            <a:avLst>
              <a:gd name="adj" fmla="val 3333"/>
            </a:avLst>
          </a:prstGeom>
          <a:solidFill>
            <a:srgbClr val="F3F5F9"/>
          </a:solidFill>
          <a:ln/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2468880"/>
            <a:ext cx="914400" cy="914400"/>
          </a:xfrm>
          <a:prstGeom prst="ellipse">
            <a:avLst/>
          </a:prstGeom>
          <a:solidFill>
            <a:srgbClr val="162447"/>
          </a:solidFill>
          <a:ln/>
        </p:spPr>
      </p:sp>
      <p:pic>
        <p:nvPicPr>
          <p:cNvPr id="6" name="Image 0" descr="icons/image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267004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566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Images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4023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image_dataset_from_directory()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62072" y="3273552"/>
            <a:ext cx="402336" cy="402336"/>
          </a:xfrm>
          <a:prstGeom prst="rightArrow">
            <a:avLst/>
          </a:prstGeom>
          <a:solidFill>
            <a:srgbClr val="FF6B5B"/>
          </a:solidFill>
          <a:ln/>
        </p:spPr>
      </p:sp>
      <p:sp>
        <p:nvSpPr>
          <p:cNvPr id="10" name="Shape 7"/>
          <p:cNvSpPr/>
          <p:nvPr/>
        </p:nvSpPr>
        <p:spPr>
          <a:xfrm>
            <a:off x="3291840" y="2148840"/>
            <a:ext cx="2194560" cy="2651760"/>
          </a:xfrm>
          <a:prstGeom prst="roundRect">
            <a:avLst>
              <a:gd name="adj" fmla="val 3333"/>
            </a:avLst>
          </a:prstGeom>
          <a:solidFill>
            <a:srgbClr val="F3F5F9"/>
          </a:solidFill>
          <a:ln/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931920" y="2468880"/>
            <a:ext cx="914400" cy="914400"/>
          </a:xfrm>
          <a:prstGeom prst="ellipse">
            <a:avLst/>
          </a:prstGeom>
          <a:solidFill>
            <a:srgbClr val="FF6B5B"/>
          </a:solidFill>
          <a:ln/>
        </p:spPr>
      </p:sp>
      <p:pic>
        <p:nvPicPr>
          <p:cNvPr id="12" name="Image 1" descr="icons/arrowsrotat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088" y="2670048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3566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&amp; Rescale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383280" y="4023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150×150 · pixels ÷ 255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513832" y="3273552"/>
            <a:ext cx="402336" cy="402336"/>
          </a:xfrm>
          <a:prstGeom prst="rightArrow">
            <a:avLst/>
          </a:prstGeom>
          <a:solidFill>
            <a:srgbClr val="FF6B5B"/>
          </a:solidFill>
          <a:ln/>
        </p:spPr>
      </p:sp>
      <p:sp>
        <p:nvSpPr>
          <p:cNvPr id="16" name="Shape 12"/>
          <p:cNvSpPr/>
          <p:nvPr/>
        </p:nvSpPr>
        <p:spPr>
          <a:xfrm>
            <a:off x="5943600" y="2148840"/>
            <a:ext cx="2194560" cy="2651760"/>
          </a:xfrm>
          <a:prstGeom prst="roundRect">
            <a:avLst>
              <a:gd name="adj" fmla="val 3333"/>
            </a:avLst>
          </a:prstGeom>
          <a:solidFill>
            <a:srgbClr val="F3F5F9"/>
          </a:solidFill>
          <a:ln/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83680" y="2468880"/>
            <a:ext cx="914400" cy="914400"/>
          </a:xfrm>
          <a:prstGeom prst="ellipse">
            <a:avLst/>
          </a:prstGeom>
          <a:solidFill>
            <a:srgbClr val="162447"/>
          </a:solidFill>
          <a:ln/>
        </p:spPr>
      </p:sp>
      <p:pic>
        <p:nvPicPr>
          <p:cNvPr id="18" name="Image 2" descr="icons/shuffl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2670048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35040" y="3566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035040" y="4023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Flip · Rotate · Zoom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165592" y="3273552"/>
            <a:ext cx="402336" cy="402336"/>
          </a:xfrm>
          <a:prstGeom prst="rightArrow">
            <a:avLst/>
          </a:prstGeom>
          <a:solidFill>
            <a:srgbClr val="FF6B5B"/>
          </a:solidFill>
          <a:ln/>
        </p:spPr>
      </p:sp>
      <p:sp>
        <p:nvSpPr>
          <p:cNvPr id="22" name="Shape 17"/>
          <p:cNvSpPr/>
          <p:nvPr/>
        </p:nvSpPr>
        <p:spPr>
          <a:xfrm>
            <a:off x="8595360" y="2148840"/>
            <a:ext cx="2194560" cy="2651760"/>
          </a:xfrm>
          <a:prstGeom prst="roundRect">
            <a:avLst>
              <a:gd name="adj" fmla="val 3333"/>
            </a:avLst>
          </a:prstGeom>
          <a:solidFill>
            <a:srgbClr val="F3F5F9"/>
          </a:solidFill>
          <a:ln/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235440" y="2468880"/>
            <a:ext cx="914400" cy="914400"/>
          </a:xfrm>
          <a:prstGeom prst="ellipse">
            <a:avLst/>
          </a:prstGeom>
          <a:solidFill>
            <a:srgbClr val="FF6B5B"/>
          </a:solidFill>
          <a:ln/>
        </p:spPr>
      </p:sp>
      <p:pic>
        <p:nvPicPr>
          <p:cNvPr id="24" name="Image 3" descr="icons/layergroup_cor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2670048"/>
            <a:ext cx="512064" cy="5120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686800" y="3566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&amp; Feed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8686800" y="4023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Batches of 32 → CNN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CNN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847088" cy="2651760"/>
          </a:xfrm>
          <a:prstGeom prst="roundRect">
            <a:avLst>
              <a:gd name="adj" fmla="val 3960"/>
            </a:avLst>
          </a:prstGeom>
          <a:solidFill>
            <a:srgbClr val="F3F5F9"/>
          </a:solidFill>
          <a:ln/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52144" y="2441448"/>
            <a:ext cx="822960" cy="822960"/>
          </a:xfrm>
          <a:prstGeom prst="ellipse">
            <a:avLst/>
          </a:prstGeom>
          <a:solidFill>
            <a:srgbClr val="FF6B5B"/>
          </a:solidFill>
          <a:ln/>
        </p:spPr>
      </p:sp>
      <p:pic>
        <p:nvPicPr>
          <p:cNvPr id="6" name="Image 0" descr="icons/fileimag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024" y="262432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944" y="344728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94944" y="395935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150×150×3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05456" y="3310128"/>
            <a:ext cx="274320" cy="329184"/>
          </a:xfrm>
          <a:prstGeom prst="rightArrow">
            <a:avLst/>
          </a:prstGeom>
          <a:solidFill>
            <a:srgbClr val="5B6B8C"/>
          </a:solidFill>
          <a:ln/>
        </p:spPr>
      </p:sp>
      <p:sp>
        <p:nvSpPr>
          <p:cNvPr id="10" name="Shape 7"/>
          <p:cNvSpPr/>
          <p:nvPr/>
        </p:nvSpPr>
        <p:spPr>
          <a:xfrm>
            <a:off x="2798064" y="2148840"/>
            <a:ext cx="1847088" cy="2651760"/>
          </a:xfrm>
          <a:prstGeom prst="roundRect">
            <a:avLst>
              <a:gd name="adj" fmla="val 3960"/>
            </a:avLst>
          </a:prstGeom>
          <a:solidFill>
            <a:srgbClr val="F3F5F9"/>
          </a:solidFill>
          <a:ln/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10128" y="2441448"/>
            <a:ext cx="822960" cy="822960"/>
          </a:xfrm>
          <a:prstGeom prst="ellipse">
            <a:avLst/>
          </a:prstGeom>
          <a:solidFill>
            <a:srgbClr val="162447"/>
          </a:solidFill>
          <a:ln/>
        </p:spPr>
      </p:sp>
      <p:pic>
        <p:nvPicPr>
          <p:cNvPr id="12" name="Image 1" descr="icons/layergroup_co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262432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52928" y="344728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+ Pool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852928" y="395935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repeated blocks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663440" y="3310128"/>
            <a:ext cx="274320" cy="329184"/>
          </a:xfrm>
          <a:prstGeom prst="rightArrow">
            <a:avLst/>
          </a:prstGeom>
          <a:solidFill>
            <a:srgbClr val="5B6B8C"/>
          </a:solidFill>
          <a:ln/>
        </p:spPr>
      </p:sp>
      <p:sp>
        <p:nvSpPr>
          <p:cNvPr id="16" name="Shape 12"/>
          <p:cNvSpPr/>
          <p:nvPr/>
        </p:nvSpPr>
        <p:spPr>
          <a:xfrm>
            <a:off x="4956048" y="2148840"/>
            <a:ext cx="1847088" cy="2651760"/>
          </a:xfrm>
          <a:prstGeom prst="roundRect">
            <a:avLst>
              <a:gd name="adj" fmla="val 3960"/>
            </a:avLst>
          </a:prstGeom>
          <a:solidFill>
            <a:srgbClr val="F3F5F9"/>
          </a:solidFill>
          <a:ln/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68112" y="2441448"/>
            <a:ext cx="822960" cy="822960"/>
          </a:xfrm>
          <a:prstGeom prst="ellipse">
            <a:avLst/>
          </a:prstGeom>
          <a:solidFill>
            <a:srgbClr val="FF6B5B"/>
          </a:solidFill>
          <a:ln/>
        </p:spPr>
      </p:sp>
      <p:pic>
        <p:nvPicPr>
          <p:cNvPr id="18" name="Image 2" descr="icons/cube_cor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262432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10912" y="344728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010912" y="395935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821424" y="3310128"/>
            <a:ext cx="274320" cy="329184"/>
          </a:xfrm>
          <a:prstGeom prst="rightArrow">
            <a:avLst/>
          </a:prstGeom>
          <a:solidFill>
            <a:srgbClr val="5B6B8C"/>
          </a:solidFill>
          <a:ln/>
        </p:spPr>
      </p:sp>
      <p:sp>
        <p:nvSpPr>
          <p:cNvPr id="22" name="Shape 17"/>
          <p:cNvSpPr/>
          <p:nvPr/>
        </p:nvSpPr>
        <p:spPr>
          <a:xfrm>
            <a:off x="7114032" y="2148840"/>
            <a:ext cx="1847088" cy="2651760"/>
          </a:xfrm>
          <a:prstGeom prst="roundRect">
            <a:avLst>
              <a:gd name="adj" fmla="val 3960"/>
            </a:avLst>
          </a:prstGeom>
          <a:solidFill>
            <a:srgbClr val="F3F5F9"/>
          </a:solidFill>
          <a:ln/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626096" y="2441448"/>
            <a:ext cx="822960" cy="822960"/>
          </a:xfrm>
          <a:prstGeom prst="ellipse">
            <a:avLst/>
          </a:prstGeom>
          <a:solidFill>
            <a:srgbClr val="162447"/>
          </a:solidFill>
          <a:ln/>
        </p:spPr>
      </p:sp>
      <p:pic>
        <p:nvPicPr>
          <p:cNvPr id="24" name="Image 3" descr="icons/brain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2624328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68896" y="344728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512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168896" y="395935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0.5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8979408" y="3310128"/>
            <a:ext cx="274320" cy="329184"/>
          </a:xfrm>
          <a:prstGeom prst="rightArrow">
            <a:avLst/>
          </a:prstGeom>
          <a:solidFill>
            <a:srgbClr val="5B6B8C"/>
          </a:solidFill>
          <a:ln/>
        </p:spPr>
      </p:sp>
      <p:sp>
        <p:nvSpPr>
          <p:cNvPr id="28" name="Shape 22"/>
          <p:cNvSpPr/>
          <p:nvPr/>
        </p:nvSpPr>
        <p:spPr>
          <a:xfrm>
            <a:off x="9272016" y="2148840"/>
            <a:ext cx="1847088" cy="2651760"/>
          </a:xfrm>
          <a:prstGeom prst="roundRect">
            <a:avLst>
              <a:gd name="adj" fmla="val 3960"/>
            </a:avLst>
          </a:prstGeom>
          <a:solidFill>
            <a:srgbClr val="F3F5F9"/>
          </a:solidFill>
          <a:ln/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784080" y="2441448"/>
            <a:ext cx="822960" cy="822960"/>
          </a:xfrm>
          <a:prstGeom prst="ellipse">
            <a:avLst/>
          </a:prstGeom>
          <a:solidFill>
            <a:srgbClr val="FF6B5B"/>
          </a:solidFill>
          <a:ln/>
        </p:spPr>
      </p:sp>
      <p:pic>
        <p:nvPicPr>
          <p:cNvPr id="30" name="Image 4" descr="icons/circlecheck_cor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0" y="2624328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326880" y="344728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9326880" y="395935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→ Cat / Dog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640080" y="50292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Base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7223760" y="5029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Head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Configuration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3F5F9"/>
          </a:solidFill>
          <a:ln/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162447"/>
          </a:solidFill>
          <a:ln/>
        </p:spPr>
      </p:sp>
      <p:pic>
        <p:nvPicPr>
          <p:cNvPr id="6" name="Image 0" descr="icons/gear_c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13055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842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600200" y="2313432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Adam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43400" y="178308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3F5F9"/>
          </a:solidFill>
          <a:ln/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011680"/>
            <a:ext cx="548640" cy="548640"/>
          </a:xfrm>
          <a:prstGeom prst="ellipse">
            <a:avLst/>
          </a:prstGeom>
          <a:solidFill>
            <a:srgbClr val="162447"/>
          </a:solidFill>
          <a:ln/>
        </p:spPr>
      </p:sp>
      <p:pic>
        <p:nvPicPr>
          <p:cNvPr id="11" name="Image 1" descr="icons/gear_co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213055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9842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303520" y="2313432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Crossentropy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3F5F9"/>
          </a:solidFill>
          <a:ln/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2011680"/>
            <a:ext cx="548640" cy="548640"/>
          </a:xfrm>
          <a:prstGeom prst="ellipse">
            <a:avLst/>
          </a:prstGeom>
          <a:solidFill>
            <a:srgbClr val="162447"/>
          </a:solidFill>
          <a:ln/>
        </p:spPr>
      </p:sp>
      <p:pic>
        <p:nvPicPr>
          <p:cNvPr id="16" name="Image 2" descr="icons/gear_cor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13055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6840" y="19842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9006840" y="2313432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40080" y="356616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3F5F9"/>
          </a:solidFill>
          <a:ln/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3794760"/>
            <a:ext cx="548640" cy="548640"/>
          </a:xfrm>
          <a:prstGeom prst="ellipse">
            <a:avLst/>
          </a:prstGeom>
          <a:solidFill>
            <a:srgbClr val="162447"/>
          </a:solidFill>
          <a:ln/>
        </p:spPr>
      </p:sp>
      <p:pic>
        <p:nvPicPr>
          <p:cNvPr id="21" name="Image 3" descr="icons/gear_cor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391363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37673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600200" y="4096512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 × 150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4343400" y="356616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3F5F9"/>
          </a:solidFill>
          <a:ln/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3794760"/>
            <a:ext cx="548640" cy="548640"/>
          </a:xfrm>
          <a:prstGeom prst="ellipse">
            <a:avLst/>
          </a:prstGeom>
          <a:solidFill>
            <a:srgbClr val="162447"/>
          </a:solidFill>
          <a:ln/>
        </p:spPr>
      </p:sp>
      <p:pic>
        <p:nvPicPr>
          <p:cNvPr id="26" name="Image 4" descr="icons/gear_cor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3913632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37673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EPOCHS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303520" y="4096512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(early stop, patience 4)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8046720" y="356616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3F5F9"/>
          </a:solidFill>
          <a:ln/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75320" y="3794760"/>
            <a:ext cx="548640" cy="548640"/>
          </a:xfrm>
          <a:prstGeom prst="ellipse">
            <a:avLst/>
          </a:prstGeom>
          <a:solidFill>
            <a:srgbClr val="162447"/>
          </a:solidFill>
          <a:ln/>
        </p:spPr>
      </p:sp>
      <p:pic>
        <p:nvPicPr>
          <p:cNvPr id="31" name="Image 5" descr="icons/gear_cor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3913632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06840" y="37673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9006840" y="4096512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EarlyStopping + ModelCheckpoint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Training Behavior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curve — exact numbers vary by run and hardware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828800"/>
          <a:ext cx="66751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965960"/>
            <a:ext cx="3886200" cy="1783080"/>
          </a:xfrm>
          <a:prstGeom prst="roundRect">
            <a:avLst>
              <a:gd name="adj" fmla="val 4103"/>
            </a:avLst>
          </a:prstGeom>
          <a:solidFill>
            <a:srgbClr val="F3F5F9"/>
          </a:solidFill>
          <a:ln/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09560" y="2258568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icons/chartline_co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576" y="2386584"/>
            <a:ext cx="429768" cy="4297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78240" y="216712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~83%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8778240" y="280720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635240" y="4023360"/>
            <a:ext cx="3886200" cy="1783080"/>
          </a:xfrm>
          <a:prstGeom prst="roundRect">
            <a:avLst>
              <a:gd name="adj" fmla="val 4103"/>
            </a:avLst>
          </a:prstGeom>
          <a:solidFill>
            <a:srgbClr val="F3F5F9"/>
          </a:solidFill>
          <a:ln/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909560" y="4315968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icons/chartlin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576" y="4443984"/>
            <a:ext cx="429768" cy="4297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778240" y="422452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~92%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8778240" y="486460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Predictions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737360" y="1600200"/>
            <a:ext cx="8686800" cy="685800"/>
          </a:xfrm>
          <a:prstGeom prst="roundRect">
            <a:avLst>
              <a:gd name="adj" fmla="val 9333"/>
            </a:avLst>
          </a:prstGeom>
          <a:solidFill>
            <a:srgbClr val="162447"/>
          </a:solidFill>
          <a:ln/>
        </p:spPr>
      </p:sp>
      <p:sp>
        <p:nvSpPr>
          <p:cNvPr id="5" name="Text 3"/>
          <p:cNvSpPr/>
          <p:nvPr/>
        </p:nvSpPr>
        <p:spPr>
          <a:xfrm>
            <a:off x="2057400" y="16002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FF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predict.py my_photo.jpg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70448" y="2395728"/>
            <a:ext cx="420624" cy="365760"/>
          </a:xfrm>
          <a:prstGeom prst="downArrow">
            <a:avLst/>
          </a:prstGeom>
          <a:solidFill>
            <a:srgbClr val="FF6B5B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2971800"/>
            <a:ext cx="4114800" cy="2834640"/>
          </a:xfrm>
          <a:prstGeom prst="roundRect">
            <a:avLst>
              <a:gd name="adj" fmla="val 2581"/>
            </a:avLst>
          </a:prstGeom>
          <a:solidFill>
            <a:srgbClr val="F3F5F9"/>
          </a:solidFill>
          <a:ln/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880360" y="3246120"/>
            <a:ext cx="914400" cy="914400"/>
          </a:xfrm>
          <a:prstGeom prst="ellipse">
            <a:avLst/>
          </a:prstGeom>
          <a:solidFill>
            <a:srgbClr val="FF6B5B"/>
          </a:solidFill>
          <a:ln/>
        </p:spPr>
      </p:sp>
      <p:pic>
        <p:nvPicPr>
          <p:cNvPr id="9" name="Image 0" descr="icons/do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342900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43159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Dog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1691640" y="4892040"/>
            <a:ext cx="3291840" cy="256032"/>
          </a:xfrm>
          <a:prstGeom prst="roundRect">
            <a:avLst>
              <a:gd name="adj" fmla="val 50000"/>
            </a:avLst>
          </a:prstGeom>
          <a:solidFill>
            <a:srgbClr val="E2E6ED"/>
          </a:solidFill>
          <a:ln/>
        </p:spPr>
      </p:sp>
      <p:sp>
        <p:nvSpPr>
          <p:cNvPr id="12" name="Shape 9"/>
          <p:cNvSpPr/>
          <p:nvPr/>
        </p:nvSpPr>
        <p:spPr>
          <a:xfrm>
            <a:off x="1691640" y="4892040"/>
            <a:ext cx="3040014" cy="256032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/>
        </p:spPr>
      </p:sp>
      <p:sp>
        <p:nvSpPr>
          <p:cNvPr id="13" name="Text 10"/>
          <p:cNvSpPr/>
          <p:nvPr/>
        </p:nvSpPr>
        <p:spPr>
          <a:xfrm>
            <a:off x="1463040" y="52303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confidence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583680" y="2971800"/>
            <a:ext cx="4114800" cy="2834640"/>
          </a:xfrm>
          <a:prstGeom prst="roundRect">
            <a:avLst>
              <a:gd name="adj" fmla="val 2581"/>
            </a:avLst>
          </a:prstGeom>
          <a:solidFill>
            <a:srgbClr val="F3F5F9"/>
          </a:solidFill>
          <a:ln/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183880" y="3246120"/>
            <a:ext cx="914400" cy="914400"/>
          </a:xfrm>
          <a:prstGeom prst="ellipse">
            <a:avLst/>
          </a:prstGeom>
          <a:solidFill>
            <a:srgbClr val="162447"/>
          </a:solidFill>
          <a:ln/>
        </p:spPr>
      </p:sp>
      <p:pic>
        <p:nvPicPr>
          <p:cNvPr id="16" name="Image 1" descr="icons/ca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3429000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766560" y="43159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Cat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6995160" y="4892040"/>
            <a:ext cx="3291840" cy="256032"/>
          </a:xfrm>
          <a:prstGeom prst="roundRect">
            <a:avLst>
              <a:gd name="adj" fmla="val 50000"/>
            </a:avLst>
          </a:prstGeom>
          <a:solidFill>
            <a:srgbClr val="E2E6ED"/>
          </a:solidFill>
          <a:ln/>
        </p:spPr>
      </p:sp>
      <p:sp>
        <p:nvSpPr>
          <p:cNvPr id="19" name="Shape 15"/>
          <p:cNvSpPr/>
          <p:nvPr/>
        </p:nvSpPr>
        <p:spPr>
          <a:xfrm>
            <a:off x="6995160" y="4892040"/>
            <a:ext cx="2900111" cy="256032"/>
          </a:xfrm>
          <a:prstGeom prst="roundRect">
            <a:avLst>
              <a:gd name="adj" fmla="val 50000"/>
            </a:avLst>
          </a:prstGeom>
          <a:solidFill>
            <a:srgbClr val="162447"/>
          </a:solidFill>
          <a:ln/>
        </p:spPr>
      </p:sp>
      <p:sp>
        <p:nvSpPr>
          <p:cNvPr id="20" name="Text 16"/>
          <p:cNvSpPr/>
          <p:nvPr/>
        </p:nvSpPr>
        <p:spPr>
          <a:xfrm>
            <a:off x="6766560" y="52303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confidence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Can Go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777240" cy="777240"/>
          </a:xfrm>
          <a:prstGeom prst="ellipse">
            <a:avLst/>
          </a:prstGeom>
          <a:solidFill>
            <a:srgbClr val="162447"/>
          </a:solidFill>
          <a:ln/>
        </p:spPr>
      </p:sp>
      <p:pic>
        <p:nvPicPr>
          <p:cNvPr id="5" name="Image 0" descr="icons/rocket_c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956816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1737360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874520" y="210312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MobileNetV2 or EfficientNetB0 for 95%+ accuracy with minimal code changes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2880360"/>
            <a:ext cx="777240" cy="777240"/>
          </a:xfrm>
          <a:prstGeom prst="ellipse">
            <a:avLst/>
          </a:prstGeom>
          <a:solidFill>
            <a:srgbClr val="162447"/>
          </a:solidFill>
          <a:ln/>
        </p:spPr>
      </p:sp>
      <p:pic>
        <p:nvPicPr>
          <p:cNvPr id="9" name="Image 1" descr="icons/database_co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3054096"/>
            <a:ext cx="429768" cy="4297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74520" y="2834640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Dataset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874520" y="320040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the full 25,000-image Kaggle "Dogs vs Cats" dataset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22960" y="3977640"/>
            <a:ext cx="777240" cy="777240"/>
          </a:xfrm>
          <a:prstGeom prst="ellipse">
            <a:avLst/>
          </a:prstGeom>
          <a:solidFill>
            <a:srgbClr val="162447"/>
          </a:solidFill>
          <a:ln/>
        </p:spPr>
      </p:sp>
      <p:pic>
        <p:nvPicPr>
          <p:cNvPr id="13" name="Image 2" descr="icons/gear_cor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4151376"/>
            <a:ext cx="429768" cy="4297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74520" y="3931920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874520" y="429768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learning rate, batch size, and batch normalization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22960" y="5074920"/>
            <a:ext cx="777240" cy="777240"/>
          </a:xfrm>
          <a:prstGeom prst="ellipse">
            <a:avLst/>
          </a:prstGeom>
          <a:solidFill>
            <a:srgbClr val="162447"/>
          </a:solidFill>
          <a:ln/>
        </p:spPr>
      </p:sp>
      <p:pic>
        <p:nvPicPr>
          <p:cNvPr id="17" name="Image 3" descr="icons/laptopcode_cor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5248656"/>
            <a:ext cx="429768" cy="4297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874520" y="5029200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874520" y="539496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model in a Flask API or lightweight web app for live predictions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023360"/>
            <a:ext cx="3291840" cy="3291840"/>
          </a:xfrm>
          <a:prstGeom prst="ellipse">
            <a:avLst/>
          </a:prstGeom>
          <a:solidFill>
            <a:srgbClr val="223361"/>
          </a:solidFill>
          <a:ln/>
        </p:spPr>
      </p:sp>
      <p:pic>
        <p:nvPicPr>
          <p:cNvPr id="3" name="Image 0" descr="icons/paw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516636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3337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9C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4069080"/>
            <a:ext cx="1828800" cy="0"/>
          </a:xfrm>
          <a:prstGeom prst="line">
            <a:avLst/>
          </a:prstGeom>
          <a:noFill/>
          <a:ln w="31750">
            <a:solidFill>
              <a:srgbClr val="FF6B5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6080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Vipin Gupta   ·   Batch 3   ·   Roll No. 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2026-07-18T03:51:10Z</dcterms:created>
  <dcterms:modified xsi:type="dcterms:W3CDTF">2026-07-18T03:51:10Z</dcterms:modified>
</cp:coreProperties>
</file>